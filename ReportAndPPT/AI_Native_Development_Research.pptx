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rial"/>
              </a:rPr>
              <a:t>Setup Time (min)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T_setup (min)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472C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D7D3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0AD47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W1 Manual</c:v>
                  </c:pt>
                  <c:pt idx="1">
                    <c:v>W2 Copilot</c:v>
                  </c:pt>
                  <c:pt idx="2">
                    <c:v>W3 Claude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</c:v>
                </c:pt>
                <c:pt idx="1">
                  <c:v>20</c:v>
                </c:pt>
                <c:pt idx="2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rial"/>
              </a:rPr>
              <a:t>Bug Density (/100 LOC)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Bug Density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7AE6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W1 Manual</c:v>
                  </c:pt>
                  <c:pt idx="1">
                    <c:v>W2 Copilot</c:v>
                  </c:pt>
                  <c:pt idx="2">
                    <c:v>W3 Claude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1.5</c:v>
                </c:pt>
                <c:pt idx="1">
                  <c:v>0.8</c:v>
                </c:pt>
                <c:pt idx="2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rial"/>
              </a:rPr>
              <a:t>Time-to-MVP (hrs)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T_mvp (hrs)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472C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D7D3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0AD47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W1 Manual</c:v>
                  </c:pt>
                  <c:pt idx="1">
                    <c:v>W2 Copilot</c:v>
                  </c:pt>
                  <c:pt idx="2">
                    <c:v>W3 Claude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</c:v>
                </c:pt>
                <c:pt idx="1">
                  <c:v>6.3</c:v>
                </c:pt>
                <c:pt idx="2">
                  <c:v>5.09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rial"/>
              </a:rPr>
              <a:t>Code Throughput (LOC/hr)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LOC/hr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7AE6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W1 Manual</c:v>
                  </c:pt>
                  <c:pt idx="1">
                    <c:v>W2 Copilot</c:v>
                  </c:pt>
                  <c:pt idx="2">
                    <c:v>W3 Claude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85</c:v>
                </c:pt>
                <c:pt idx="1">
                  <c:v>187</c:v>
                </c:pt>
                <c:pt idx="2">
                  <c:v>881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W1 Manual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T_mvp (hrs)</c:v>
                  </c:pt>
                  <c:pt idx="1">
                    <c:v>Debug Cycles</c:v>
                  </c:pt>
                  <c:pt idx="2">
                    <c:v>Bug Density</c:v>
                  </c:pt>
                  <c:pt idx="3">
                    <c:v>V.Overhead %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7.88</c:v>
                </c:pt>
                <c:pt idx="1">
                  <c:v>6</c:v>
                </c:pt>
                <c:pt idx="2">
                  <c:v>2</c:v>
                </c:pt>
                <c:pt idx="3">
                  <c:v>12.5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W2 Copilot</c:v>
                </c:pt>
              </c:strCache>
            </c:strRef>
          </c:tx>
          <c:spPr>
            <a:solidFill>
              <a:srgbClr val="ED7D3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T_mvp (hrs)</c:v>
                  </c:pt>
                  <c:pt idx="1">
                    <c:v>Debug Cycles</c:v>
                  </c:pt>
                  <c:pt idx="2">
                    <c:v>Bug Density</c:v>
                  </c:pt>
                  <c:pt idx="3">
                    <c:v>V.Overhead %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3.55</c:v>
                </c:pt>
                <c:pt idx="1">
                  <c:v>3.5</c:v>
                </c:pt>
                <c:pt idx="2">
                  <c:v>1.2</c:v>
                </c:pt>
                <c:pt idx="3">
                  <c:v>23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W3 Claude</c:v>
                </c:pt>
              </c:strCache>
            </c:strRef>
          </c:tx>
          <c:spPr>
            <a:solidFill>
              <a:srgbClr val="70AD4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T_mvp (hrs)</c:v>
                  </c:pt>
                  <c:pt idx="1">
                    <c:v>Debug Cycles</c:v>
                  </c:pt>
                  <c:pt idx="2">
                    <c:v>Bug Density</c:v>
                  </c:pt>
                  <c:pt idx="3">
                    <c:v>V.Overhead %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2.84</c:v>
                </c:pt>
                <c:pt idx="1">
                  <c:v>2.5</c:v>
                </c:pt>
                <c:pt idx="2">
                  <c:v>0.25</c:v>
                </c:pt>
                <c:pt idx="3">
                  <c:v>37.5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Project Presentation of CO-OP Project at Industry (Module-2) (22CS421)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8046720" y="0"/>
            <a:ext cx="1097280" cy="384048"/>
          </a:xfrm>
          <a:prstGeom prst="rect">
            <a:avLst/>
          </a:prstGeom>
          <a:solidFill>
            <a:srgbClr val="A93226"/>
          </a:solidFill>
          <a:ln w="12700">
            <a:solidFill>
              <a:srgbClr val="A932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CHITKARA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UNIVERSITY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0" y="47548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777240"/>
            <a:ext cx="7315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AI-Native Development Platforms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vs Traditional IDEs: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Impact of Agentic AI on Software Engineering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0" y="2606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Harshita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0" y="290779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B.E. Computer Science and Engineering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0" y="321868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Supervised By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Faculty, Chitkara University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Department of Computer Science and Engineering, Chitkara University, Punjab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Introduction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046720" y="0"/>
            <a:ext cx="1097280" cy="502920"/>
          </a:xfrm>
          <a:prstGeom prst="rect">
            <a:avLst/>
          </a:prstGeom>
          <a:solidFill>
            <a:srgbClr val="A93226"/>
          </a:solidFill>
          <a:ln w="12700">
            <a:solidFill>
              <a:srgbClr val="A932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CHITKARA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UNIVERSITY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594360"/>
            <a:ext cx="841248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</a:rPr>
              <a:t>The AI Shift in Software Development</a:t>
            </a:r>
            <a:endParaRPr lang="en-US" sz="16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Large language models have fundamentally changed how software is written — but controlled comparisons are lacking.</a:t>
            </a:r>
            <a:endParaRPr lang="en-US" sz="16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6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Industry Context: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• Gartner (2025): most business apps will use low-code tools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• GitHub survey: ~97% of US devs use AI assistants; many report 50%+ time savings</a:t>
            </a:r>
            <a:endParaRPr lang="en-US" sz="16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6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The Gap: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No prior study compares manual, Copilot-assisted, and fully agentic workflows on identical projects with objective log instrumentation.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Research Objectives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046720" y="0"/>
            <a:ext cx="1097280" cy="502920"/>
          </a:xfrm>
          <a:prstGeom prst="rect">
            <a:avLst/>
          </a:prstGeom>
          <a:solidFill>
            <a:srgbClr val="A93226"/>
          </a:solidFill>
          <a:ln w="12700">
            <a:solidFill>
              <a:srgbClr val="A932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CHITKARA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UNIVERSITY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658368"/>
            <a:ext cx="59436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65836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RQ1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60120" y="6583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Time-to-MVP &amp; Setup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932688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How do W1, W2, W3 differ in time-to-MVP and setup time across simple and complex projects?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664208"/>
            <a:ext cx="59436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66420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RQ2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60120" y="16642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Code Quality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1938528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How do the three workflows compare in bug density (defects/100 LOC) and code throughput (LOC/hr)?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670048"/>
            <a:ext cx="59436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67004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RQ3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60120" y="26700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Verification Overhead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2944368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How much workflow time is spent verifying AI code? What caused the overhead — code errors or environment issues?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675888"/>
            <a:ext cx="59436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67588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RQ4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60120" y="36758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Developer Role Shift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3950208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What new roles emerge when developers shift from writing code to orchestrating agents?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Methodology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046720" y="0"/>
            <a:ext cx="1097280" cy="502920"/>
          </a:xfrm>
          <a:prstGeom prst="rect">
            <a:avLst/>
          </a:prstGeom>
          <a:solidFill>
            <a:srgbClr val="A93226"/>
          </a:solidFill>
          <a:ln w="12700">
            <a:solidFill>
              <a:srgbClr val="A932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CHITKARA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UNIVERSITY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594360"/>
            <a:ext cx="2743200" cy="1554480"/>
          </a:xfrm>
          <a:prstGeom prst="rect">
            <a:avLst/>
          </a:prstGeom>
          <a:solidFill>
            <a:srgbClr val="E8D5D5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594360"/>
            <a:ext cx="274320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5943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W1 — Manual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987552"/>
            <a:ext cx="256032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VS Code, no AI assistance. Full developer control. Used as control baseline.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594360"/>
            <a:ext cx="2743200" cy="1554480"/>
          </a:xfrm>
          <a:prstGeom prst="rect">
            <a:avLst/>
          </a:prstGeom>
          <a:solidFill>
            <a:srgbClr val="FDEBD0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594360"/>
            <a:ext cx="274320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5943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W2 — Copilot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91840" y="987552"/>
            <a:ext cx="256032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VS Code + GitHub Copilot. Developer controls architecture; AI suggests completions.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72200" y="594360"/>
            <a:ext cx="2743200" cy="1554480"/>
          </a:xfrm>
          <a:prstGeom prst="rect">
            <a:avLst/>
          </a:prstGeom>
          <a:solidFill>
            <a:srgbClr val="D5E8D4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594360"/>
            <a:ext cx="274320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5943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W3 — Claude (Agentic)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63640" y="987552"/>
            <a:ext cx="256032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Natural language prompts only. Claude plans, writes, and refines. Developer verifies.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4320" y="22860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Two Benchmark Projects: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74320" y="26060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</a:rPr>
              <a:t>Todo List App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— Basic CRUD, localStorage, responsive UI (simple scope)    </a:t>
            </a:r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</a:rPr>
              <a:t>E-Commerce Site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— Product catalog, cart, checkout, JWT auth, Supabase (complex)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74320" y="31546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</a:rPr>
              <a:t>All 6 runs on identical hardware: Intel Core i5, 16GB RAM, Fedora Linux, Node.js v24.14.0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74320" y="352044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Key Metrics Tracked: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74320" y="379476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T_setup  •  T_mvp  •  LOC/hr  •  Debug cycles  •  Bug density (/100 LOC)  •  Verification overhead (%)  •  Agentic trace  •  CLI log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Results — Todo List App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046720" y="0"/>
            <a:ext cx="1097280" cy="502920"/>
          </a:xfrm>
          <a:prstGeom prst="rect">
            <a:avLst/>
          </a:prstGeom>
          <a:solidFill>
            <a:srgbClr val="A93226"/>
          </a:solidFill>
          <a:ln w="12700">
            <a:solidFill>
              <a:srgbClr val="A932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CHITKARA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UNIVERSITY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274320" y="594360"/>
          <a:ext cx="411480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Chart 1" descr=""/>
          <p:cNvGraphicFramePr/>
          <p:nvPr/>
        </p:nvGraphicFramePr>
        <p:xfrm>
          <a:off x="4754880" y="594360"/>
          <a:ext cx="411480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834640"/>
          <a:ext cx="8595360" cy="1783080"/>
        </p:xfrm>
        <a:graphic>
          <a:graphicData uri="http://schemas.openxmlformats.org/drawingml/2006/table">
            <a:tbl>
              <a:tblPr/>
              <a:tblGrid>
                <a:gridCol w="2286000"/>
                <a:gridCol w="2103120"/>
                <a:gridCol w="2103120"/>
                <a:gridCol w="2103120"/>
              </a:tblGrid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W1 Manual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W2 Copilot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W3 Claude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T_mvp (hrs)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1.75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0.80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0.58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LOC / hr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102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224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~1,017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Debug cycles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Verification 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12%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22%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~40%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Results — E-Commerce Website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046720" y="0"/>
            <a:ext cx="1097280" cy="502920"/>
          </a:xfrm>
          <a:prstGeom prst="rect">
            <a:avLst/>
          </a:prstGeom>
          <a:solidFill>
            <a:srgbClr val="A93226"/>
          </a:solidFill>
          <a:ln w="12700">
            <a:solidFill>
              <a:srgbClr val="A932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CHITKARA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UNIVERSITY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274320" y="594360"/>
          <a:ext cx="411480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Chart 1" descr=""/>
          <p:cNvGraphicFramePr/>
          <p:nvPr/>
        </p:nvGraphicFramePr>
        <p:xfrm>
          <a:off x="4754880" y="594360"/>
          <a:ext cx="411480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834640"/>
          <a:ext cx="8595360" cy="1783080"/>
        </p:xfrm>
        <a:graphic>
          <a:graphicData uri="http://schemas.openxmlformats.org/drawingml/2006/table">
            <a:tbl>
              <a:tblPr/>
              <a:tblGrid>
                <a:gridCol w="2286000"/>
                <a:gridCol w="2103120"/>
                <a:gridCol w="2103120"/>
                <a:gridCol w="2103120"/>
              </a:tblGrid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W1 Manual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W2 Copilot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W3 Claude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T_setup (min)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Debug cycles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Bug density (/100 LOC)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2.5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1.6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Verification 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13%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24%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35%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Aggregate Results — Both Projects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046720" y="0"/>
            <a:ext cx="1097280" cy="502920"/>
          </a:xfrm>
          <a:prstGeom prst="rect">
            <a:avLst/>
          </a:prstGeom>
          <a:solidFill>
            <a:srgbClr val="A93226"/>
          </a:solidFill>
          <a:ln w="12700">
            <a:solidFill>
              <a:srgbClr val="A932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CHITKARA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UNIVERSITY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274320" y="594360"/>
          <a:ext cx="859536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274320" y="3703320"/>
            <a:ext cx="1920240" cy="777240"/>
          </a:xfrm>
          <a:prstGeom prst="rect">
            <a:avLst/>
          </a:prstGeom>
          <a:solidFill>
            <a:srgbClr val="D5E8D4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" y="372160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7AE60"/>
                </a:solidFill>
              </a:rPr>
              <a:t>−64%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274320" y="4105656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Time-to-MVP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423160" y="3703320"/>
            <a:ext cx="1920240" cy="777240"/>
          </a:xfrm>
          <a:prstGeom prst="rect">
            <a:avLst/>
          </a:prstGeom>
          <a:solidFill>
            <a:srgbClr val="D5E8D4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423160" y="372160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7AE60"/>
                </a:solidFill>
              </a:rPr>
              <a:t>+915%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2423160" y="4105656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LOC/hr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572000" y="3703320"/>
            <a:ext cx="1920240" cy="777240"/>
          </a:xfrm>
          <a:prstGeom prst="rect">
            <a:avLst/>
          </a:prstGeom>
          <a:solidFill>
            <a:srgbClr val="D5E8D4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0" y="372160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7AE60"/>
                </a:solidFill>
              </a:rPr>
              <a:t>−88%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4572000" y="4105656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Bug Density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720840" y="3703320"/>
            <a:ext cx="1920240" cy="777240"/>
          </a:xfrm>
          <a:prstGeom prst="rect">
            <a:avLst/>
          </a:prstGeom>
          <a:solidFill>
            <a:srgbClr val="FDEBD0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720840" y="372160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7E22"/>
                </a:solidFill>
              </a:rPr>
              <a:t>+200%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6720840" y="4105656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Verif. Overhead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Agentic Trace &amp; Verification Overhead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046720" y="0"/>
            <a:ext cx="1097280" cy="502920"/>
          </a:xfrm>
          <a:prstGeom prst="rect">
            <a:avLst/>
          </a:prstGeom>
          <a:solidFill>
            <a:srgbClr val="A93226"/>
          </a:solidFill>
          <a:ln w="12700">
            <a:solidFill>
              <a:srgbClr val="A932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CHITKARA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UNIVERSITY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59436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</a:rPr>
              <a:t>Key Finding: Overhead is Environment-Driven, Not Code-Quality-Driven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5486400" cy="3200400"/>
        </p:xfrm>
        <a:graphic>
          <a:graphicData uri="http://schemas.openxmlformats.org/drawingml/2006/table">
            <a:tbl>
              <a:tblPr/>
              <a:tblGrid>
                <a:gridCol w="365760"/>
                <a:gridCol w="2560320"/>
                <a:gridCol w="1097280"/>
                <a:gridCol w="1463040"/>
              </a:tblGrid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Time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Upload research + scaffold prompt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T+0 min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Scaffold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Clarification — tech stack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T+2 min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Refinement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Build project todo list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T+3 min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Feature prompt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Next.js + Tailwind + zip output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T+5 min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Refinement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Continue (tool call limit hit)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T+8 min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Recovery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ENOSPC inotify watcher error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T+12 min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Debug #1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inotify watcher limit resolution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T+14 min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Verification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943600" y="10058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Overhead Attribution: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943600" y="1325880"/>
            <a:ext cx="29260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~40% overhead in Todo List W3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→ OS-level ENOSPC inotify error
→ NOT from Claude's code quality
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~35% overhead in E-Commerce W3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→ Route collision + Supabase API misconfiguration
→ Environment issues, not code failures
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</a:rPr>
              <a:t>Implication: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Fix your dev environment first — not AI prompts — to reduce verification overhead.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Hybrid Orchestration Framework (HOF)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046720" y="0"/>
            <a:ext cx="1097280" cy="502920"/>
          </a:xfrm>
          <a:prstGeom prst="rect">
            <a:avLst/>
          </a:prstGeom>
          <a:solidFill>
            <a:srgbClr val="A93226"/>
          </a:solidFill>
          <a:ln w="12700">
            <a:solidFill>
              <a:srgbClr val="A932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CHITKARA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UNIVERSITY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9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59436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New developer roles emerging in agentic workflows: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005840"/>
            <a:ext cx="8595360" cy="1097280"/>
          </a:xfrm>
          <a:prstGeom prst="rect">
            <a:avLst/>
          </a:prstGeom>
          <a:solidFill>
            <a:srgbClr val="FDEDE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005840"/>
            <a:ext cx="73152" cy="10972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00584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</a:rPr>
              <a:t>Role 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" y="100584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Prompt Architect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4048" y="1408176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</a:rPr>
              <a:t>Designs and maintains the Standardized Prompting Protocol (SPP). Precise, structured prompts yield integration-ready code on first generation. Vague prompts increase recovery rounds and cost.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240280"/>
            <a:ext cx="8595360" cy="1097280"/>
          </a:xfrm>
          <a:prstGeom prst="rect">
            <a:avLst/>
          </a:prstGeom>
          <a:solidFill>
            <a:srgbClr val="EBF5F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240280"/>
            <a:ext cx="73152" cy="10972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24028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</a:rPr>
              <a:t>Role 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" y="224028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Agentic Trace Auditor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84048" y="2642616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</a:rPr>
              <a:t>Reads CLI and trace logs to verify correctness and identify what caused overhead. Structured logs distinguish environment failures from code-level failures — turning opinions into evidence.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3474720"/>
            <a:ext cx="8595360" cy="1097280"/>
          </a:xfrm>
          <a:prstGeom prst="rect">
            <a:avLst/>
          </a:prstGeom>
          <a:solidFill>
            <a:srgbClr val="EAFA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474720"/>
            <a:ext cx="73152" cy="10972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47472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</a:rPr>
              <a:t>Role 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84048" y="347472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System Orchestrator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84048" y="3877056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</a:rPr>
              <a:t>Ensures separately generated components fit together. Upfront architectural choices (Next.js, Tailwind, output format) shape everything Claude produces downstream.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Conclusion &amp; Future Work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046720" y="0"/>
            <a:ext cx="1097280" cy="502920"/>
          </a:xfrm>
          <a:prstGeom prst="rect">
            <a:avLst/>
          </a:prstGeom>
          <a:solidFill>
            <a:srgbClr val="A93226"/>
          </a:solidFill>
          <a:ln w="12700">
            <a:solidFill>
              <a:srgbClr val="A932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CHITKARA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UNIVERSITY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62179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</a:rPr>
              <a:t>Key Contributions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969264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</a:rPr>
              <a:t>1.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First controlled comparison of manual, AI-assisted &amp; agentic workflows with objective trace evidence
</a:t>
            </a:r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</a:rPr>
              <a:t>2.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W3 reduces time-to-MVP by 64% and bug density by 88% vs manual baseline
</a:t>
            </a:r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</a:rPr>
              <a:t>3.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Verification overhead is environment-driven, not code-quality-driven
</a:t>
            </a:r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</a:rPr>
              <a:t>4.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Hybrid Orchestration Framework (HOF) defines 3 structured developer roles for agentic settings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0" y="62179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</a:rPr>
              <a:t>Future Work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969264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Complete all W1/W2 runs &amp; E-Commerce W3 session
</a:t>
            </a:r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Test on properly configured Linux to isolate OS overhead
</a:t>
            </a:r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Automated agentic trace analysis tooling
</a:t>
            </a:r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HOF multi-developer team evaluation
</a:t>
            </a:r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Longitudinal maintenance study (6–12 months)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429000"/>
            <a:ext cx="8595360" cy="914400"/>
          </a:xfrm>
          <a:prstGeom prst="rect">
            <a:avLst/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4747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</a:rPr>
              <a:t>Bottom Line: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Expect large scaffolding gains with agentic AI, followed by an unavoidable verification phase. Code quality is high — environment setup is the bottleneck.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0" y="4407408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Thank You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2026-05-01T08:03:51Z</dcterms:created>
  <dcterms:modified xsi:type="dcterms:W3CDTF">2026-05-01T08:03:51Z</dcterms:modified>
</cp:coreProperties>
</file>