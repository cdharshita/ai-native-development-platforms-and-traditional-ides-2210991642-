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8EADD2C-E711-4FA0-A7A0-26A3DB8B1D91}">
  <a:tblStyle styleId="{38EADD2C-E711-4FA0-A7A0-26A3DB8B1D9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" name="Google Shape;29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" name="Google Shape;4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182880" y="0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Project Presentation of CO-OP Project at Industry (Module-2) (22CS421)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8046720" y="0"/>
            <a:ext cx="1097280" cy="384048"/>
          </a:xfrm>
          <a:prstGeom prst="rect">
            <a:avLst/>
          </a:prstGeom>
          <a:solidFill>
            <a:srgbClr val="A93226"/>
          </a:solidFill>
          <a:ln cap="flat" cmpd="sng" w="12700">
            <a:solidFill>
              <a:srgbClr val="A932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8046720" y="0"/>
            <a:ext cx="1097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CHITKARA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UNIVERSITY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0" y="47548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914400" y="777240"/>
            <a:ext cx="73152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AI-Native Development Platforms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vs Traditional IDEs: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Impact of Agentic AI on Software Engineering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0" y="2606040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Harshita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0" y="2907792"/>
            <a:ext cx="9144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B.E. Computer Science and Engineering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0" y="3218688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Supervised By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Dr Shyam Goyal ,</a:t>
            </a: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Chitkara University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3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Department of Computer Science and Engineering, Chitkara University, Punjab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274320" y="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8046720" y="0"/>
            <a:ext cx="1097280" cy="502920"/>
          </a:xfrm>
          <a:prstGeom prst="rect">
            <a:avLst/>
          </a:prstGeom>
          <a:solidFill>
            <a:srgbClr val="A93226"/>
          </a:solidFill>
          <a:ln cap="flat" cmpd="sng" w="12700">
            <a:solidFill>
              <a:srgbClr val="A932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8046720" y="0"/>
            <a:ext cx="10972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CHITKARA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UNIVERSITY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365760" y="594360"/>
            <a:ext cx="8412480" cy="4160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The AI Shift in Software Development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alibri"/>
              <a:buNone/>
            </a:pPr>
            <a:br>
              <a:rPr b="0" i="0" lang="en-US" sz="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Large language models have fundamentally changed how software is written — but controlled comparisons are lacking.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alibri"/>
              <a:buNone/>
            </a:pPr>
            <a:br>
              <a:rPr b="0" i="0" lang="en-US" sz="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Industry Context: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• Gartner (2025): most business apps will use low-code tools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• GitHub survey: ~97% of US devs use AI assistants; many report 50%+ time savings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alibri"/>
              <a:buNone/>
            </a:pPr>
            <a:br>
              <a:rPr b="0" i="0" lang="en-US" sz="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The Gap: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No prior study compares manual, Copilot-assisted, and fully agentic workflows on identical projects with objective log instrumentation.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5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5"/>
          <p:cNvSpPr/>
          <p:nvPr/>
        </p:nvSpPr>
        <p:spPr>
          <a:xfrm>
            <a:off x="274320" y="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Research Objectives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/>
          <p:nvPr/>
        </p:nvSpPr>
        <p:spPr>
          <a:xfrm>
            <a:off x="8046720" y="0"/>
            <a:ext cx="1097280" cy="502920"/>
          </a:xfrm>
          <a:prstGeom prst="rect">
            <a:avLst/>
          </a:prstGeom>
          <a:solidFill>
            <a:srgbClr val="A93226"/>
          </a:solidFill>
          <a:ln cap="flat" cmpd="sng" w="12700">
            <a:solidFill>
              <a:srgbClr val="A932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5"/>
          <p:cNvSpPr/>
          <p:nvPr/>
        </p:nvSpPr>
        <p:spPr>
          <a:xfrm>
            <a:off x="8046720" y="0"/>
            <a:ext cx="10972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CHITKARA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UNIVERSITY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274320" y="658368"/>
            <a:ext cx="594360" cy="50292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5"/>
          <p:cNvSpPr/>
          <p:nvPr/>
        </p:nvSpPr>
        <p:spPr>
          <a:xfrm>
            <a:off x="274320" y="658368"/>
            <a:ext cx="594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RQ1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960120" y="658368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Time-to-MVP &amp; Setup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960120" y="932688"/>
            <a:ext cx="7863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How do W1, W2, W3 differ in time-to-MVP and setup time across simple and complex projects?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274320" y="1664208"/>
            <a:ext cx="594360" cy="50292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5"/>
          <p:cNvSpPr/>
          <p:nvPr/>
        </p:nvSpPr>
        <p:spPr>
          <a:xfrm>
            <a:off x="274320" y="1664208"/>
            <a:ext cx="594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RQ2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960120" y="1664208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Code Quality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960120" y="1938528"/>
            <a:ext cx="7863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How do the three workflows compare in bug density (defects/100 LOC) and code throughput (LOC/hr)?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274320" y="2670048"/>
            <a:ext cx="594360" cy="50292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74320" y="2670048"/>
            <a:ext cx="594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RQ3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960120" y="2670048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Verification Overhead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960120" y="2944368"/>
            <a:ext cx="7863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How much workflow time is spent verifying AI code? What caused the overhead — code errors or environment issues?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274320" y="3675888"/>
            <a:ext cx="594360" cy="50292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5"/>
          <p:cNvSpPr/>
          <p:nvPr/>
        </p:nvSpPr>
        <p:spPr>
          <a:xfrm>
            <a:off x="274320" y="3675888"/>
            <a:ext cx="594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RQ4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960120" y="3675888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Developer Role Shift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960120" y="3950208"/>
            <a:ext cx="7863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What new roles emerge when developers shift from writing code to orchestrating agents?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6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6"/>
          <p:cNvSpPr/>
          <p:nvPr/>
        </p:nvSpPr>
        <p:spPr>
          <a:xfrm>
            <a:off x="274320" y="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6"/>
          <p:cNvSpPr/>
          <p:nvPr/>
        </p:nvSpPr>
        <p:spPr>
          <a:xfrm>
            <a:off x="8046720" y="0"/>
            <a:ext cx="1097280" cy="502920"/>
          </a:xfrm>
          <a:prstGeom prst="rect">
            <a:avLst/>
          </a:prstGeom>
          <a:solidFill>
            <a:srgbClr val="A93226"/>
          </a:solidFill>
          <a:ln cap="flat" cmpd="sng" w="12700">
            <a:solidFill>
              <a:srgbClr val="A932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6"/>
          <p:cNvSpPr/>
          <p:nvPr/>
        </p:nvSpPr>
        <p:spPr>
          <a:xfrm>
            <a:off x="8046720" y="0"/>
            <a:ext cx="10972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CHITKARA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UNIVERSITY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6"/>
          <p:cNvSpPr/>
          <p:nvPr/>
        </p:nvSpPr>
        <p:spPr>
          <a:xfrm>
            <a:off x="228600" y="594360"/>
            <a:ext cx="2743200" cy="1554480"/>
          </a:xfrm>
          <a:prstGeom prst="rect">
            <a:avLst/>
          </a:prstGeom>
          <a:solidFill>
            <a:srgbClr val="E8D5D5"/>
          </a:solidFill>
          <a:ln cap="flat" cmpd="sng" w="12700">
            <a:solidFill>
              <a:srgbClr val="BBBBB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6"/>
          <p:cNvSpPr/>
          <p:nvPr/>
        </p:nvSpPr>
        <p:spPr>
          <a:xfrm>
            <a:off x="228600" y="594360"/>
            <a:ext cx="2743200" cy="347472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6"/>
          <p:cNvSpPr/>
          <p:nvPr/>
        </p:nvSpPr>
        <p:spPr>
          <a:xfrm>
            <a:off x="228600" y="594360"/>
            <a:ext cx="27432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W1 — Manual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6"/>
          <p:cNvSpPr/>
          <p:nvPr/>
        </p:nvSpPr>
        <p:spPr>
          <a:xfrm>
            <a:off x="320040" y="987552"/>
            <a:ext cx="2560320" cy="11155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VS Code, no AI assistance. Full developer control. Used as control baseline.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/>
          <p:nvPr/>
        </p:nvSpPr>
        <p:spPr>
          <a:xfrm>
            <a:off x="3200400" y="594360"/>
            <a:ext cx="2743200" cy="1554480"/>
          </a:xfrm>
          <a:prstGeom prst="rect">
            <a:avLst/>
          </a:prstGeom>
          <a:solidFill>
            <a:srgbClr val="FDEBD0"/>
          </a:solidFill>
          <a:ln cap="flat" cmpd="sng" w="12700">
            <a:solidFill>
              <a:srgbClr val="BBBBB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6"/>
          <p:cNvSpPr/>
          <p:nvPr/>
        </p:nvSpPr>
        <p:spPr>
          <a:xfrm>
            <a:off x="3200400" y="594360"/>
            <a:ext cx="2743200" cy="347472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6"/>
          <p:cNvSpPr/>
          <p:nvPr/>
        </p:nvSpPr>
        <p:spPr>
          <a:xfrm>
            <a:off x="3200400" y="594360"/>
            <a:ext cx="27432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W2 — Copilot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3291840" y="987552"/>
            <a:ext cx="2560320" cy="11155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VS Code + GitHub Copilot. Developer controls architecture; AI suggests completions.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6172200" y="594360"/>
            <a:ext cx="2743200" cy="1554480"/>
          </a:xfrm>
          <a:prstGeom prst="rect">
            <a:avLst/>
          </a:prstGeom>
          <a:solidFill>
            <a:srgbClr val="D5E8D4"/>
          </a:solidFill>
          <a:ln cap="flat" cmpd="sng" w="12700">
            <a:solidFill>
              <a:srgbClr val="BBBBB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/>
          <p:nvPr/>
        </p:nvSpPr>
        <p:spPr>
          <a:xfrm>
            <a:off x="6172200" y="594360"/>
            <a:ext cx="2743200" cy="347472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6"/>
          <p:cNvSpPr/>
          <p:nvPr/>
        </p:nvSpPr>
        <p:spPr>
          <a:xfrm>
            <a:off x="6172200" y="594360"/>
            <a:ext cx="27432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W3 — Claude (Agentic)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6263640" y="987552"/>
            <a:ext cx="2560320" cy="11155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Natural language prompts only. Claude plans, writes, and refines. Developer verifies.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274320" y="228600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Two Benchmark Projects: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274320" y="260604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Todo List App  </a:t>
            </a: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— Basic CRUD, localStorage, responsive UI (simple scope)    </a:t>
            </a:r>
            <a:r>
              <a:rPr b="1" i="0" lang="en-US" sz="12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E-Commerce Site  </a:t>
            </a: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— Product catalog, cart, checkout, JWT auth, Supabase (complex)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/>
          <p:nvPr/>
        </p:nvSpPr>
        <p:spPr>
          <a:xfrm>
            <a:off x="274320" y="315468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All 6 runs on identical hardware: Intel Core i5, 16GB RAM, Fedora Linux, Node.js v24.14.0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6"/>
          <p:cNvSpPr/>
          <p:nvPr/>
        </p:nvSpPr>
        <p:spPr>
          <a:xfrm>
            <a:off x="274320" y="3520440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Key Metrics Tracked: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274320" y="3794760"/>
            <a:ext cx="85953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T_setup  •  T_mvp  •  LOC/hr  •  Debug cycles  •  Bug density (/100 LOC)  •  Verification overhead (%)  •  Agentic trace  •  CLI log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7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7"/>
          <p:cNvSpPr/>
          <p:nvPr/>
        </p:nvSpPr>
        <p:spPr>
          <a:xfrm>
            <a:off x="274320" y="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Results — Todo List App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8046720" y="0"/>
            <a:ext cx="1097280" cy="502920"/>
          </a:xfrm>
          <a:prstGeom prst="rect">
            <a:avLst/>
          </a:prstGeom>
          <a:solidFill>
            <a:srgbClr val="A93226"/>
          </a:solidFill>
          <a:ln cap="flat" cmpd="sng" w="12700">
            <a:solidFill>
              <a:srgbClr val="A932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7"/>
          <p:cNvSpPr/>
          <p:nvPr/>
        </p:nvSpPr>
        <p:spPr>
          <a:xfrm>
            <a:off x="8046720" y="0"/>
            <a:ext cx="10972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CHITKARA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UNIVERSITY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5" name="Google Shape;10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594360"/>
            <a:ext cx="4114800" cy="2103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54880" y="594360"/>
            <a:ext cx="4114800" cy="210312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07" name="Google Shape;107;p7"/>
          <p:cNvGraphicFramePr/>
          <p:nvPr/>
        </p:nvGraphicFramePr>
        <p:xfrm>
          <a:off x="274320" y="28346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{38EADD2C-E711-4FA0-A7A0-26A3DB8B1D91}</a:tableStyleId>
              </a:tblPr>
              <a:tblGrid>
                <a:gridCol w="2286000"/>
                <a:gridCol w="2103125"/>
                <a:gridCol w="2103125"/>
                <a:gridCol w="2103125"/>
              </a:tblGrid>
              <a:tr h="356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</a:rPr>
                        <a:t>Metric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</a:rPr>
                        <a:t>W1 Manual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</a:rPr>
                        <a:t>W2 Copilot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</a:rPr>
                        <a:t>W3 Claude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392B"/>
                    </a:solidFill>
                  </a:tcPr>
                </a:tc>
              </a:tr>
              <a:tr h="356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T_mvp (hrs)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1.75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0.80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0.58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6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LOC / hr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102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224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~1,017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6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Debug cycles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4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2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1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6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Verification %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12%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22%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~40%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8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8"/>
          <p:cNvSpPr/>
          <p:nvPr/>
        </p:nvSpPr>
        <p:spPr>
          <a:xfrm>
            <a:off x="274320" y="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Results — E-Commerce Website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8"/>
          <p:cNvSpPr/>
          <p:nvPr/>
        </p:nvSpPr>
        <p:spPr>
          <a:xfrm>
            <a:off x="8046720" y="0"/>
            <a:ext cx="1097280" cy="502920"/>
          </a:xfrm>
          <a:prstGeom prst="rect">
            <a:avLst/>
          </a:prstGeom>
          <a:solidFill>
            <a:srgbClr val="A93226"/>
          </a:solidFill>
          <a:ln cap="flat" cmpd="sng" w="12700">
            <a:solidFill>
              <a:srgbClr val="A932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8"/>
          <p:cNvSpPr/>
          <p:nvPr/>
        </p:nvSpPr>
        <p:spPr>
          <a:xfrm>
            <a:off x="8046720" y="0"/>
            <a:ext cx="10972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CHITKARA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UNIVERSITY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9" name="Google Shape;11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594360"/>
            <a:ext cx="4114800" cy="2103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54880" y="594360"/>
            <a:ext cx="4114800" cy="210312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1" name="Google Shape;121;p8"/>
          <p:cNvGraphicFramePr/>
          <p:nvPr/>
        </p:nvGraphicFramePr>
        <p:xfrm>
          <a:off x="274320" y="28346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{38EADD2C-E711-4FA0-A7A0-26A3DB8B1D91}</a:tableStyleId>
              </a:tblPr>
              <a:tblGrid>
                <a:gridCol w="2286000"/>
                <a:gridCol w="2103125"/>
                <a:gridCol w="2103125"/>
                <a:gridCol w="2103125"/>
              </a:tblGrid>
              <a:tr h="356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</a:rPr>
                        <a:t>Metric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</a:rPr>
                        <a:t>W1 Manual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</a:rPr>
                        <a:t>W2 Copilot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</a:rPr>
                        <a:t>W3 Claude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392B"/>
                    </a:solidFill>
                  </a:tcPr>
                </a:tc>
              </a:tr>
              <a:tr h="356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T_setup (min)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45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35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15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6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Debug cycles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8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5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4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6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Bug density (/100 LOC)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2.5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1.6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0.5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6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Verification %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13%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24%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0000"/>
                          </a:solidFill>
                        </a:rPr>
                        <a:t>35%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9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9"/>
          <p:cNvSpPr/>
          <p:nvPr/>
        </p:nvSpPr>
        <p:spPr>
          <a:xfrm>
            <a:off x="274320" y="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Aggregate Results — Both Projects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9"/>
          <p:cNvSpPr/>
          <p:nvPr/>
        </p:nvSpPr>
        <p:spPr>
          <a:xfrm>
            <a:off x="8046720" y="0"/>
            <a:ext cx="1097280" cy="502920"/>
          </a:xfrm>
          <a:prstGeom prst="rect">
            <a:avLst/>
          </a:prstGeom>
          <a:solidFill>
            <a:srgbClr val="A93226"/>
          </a:solidFill>
          <a:ln cap="flat" cmpd="sng" w="12700">
            <a:solidFill>
              <a:srgbClr val="A932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9"/>
          <p:cNvSpPr/>
          <p:nvPr/>
        </p:nvSpPr>
        <p:spPr>
          <a:xfrm>
            <a:off x="8046720" y="0"/>
            <a:ext cx="10972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CHITKARA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UNIVERSITY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3" name="Google Shape;13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594360"/>
            <a:ext cx="8595360" cy="301752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9"/>
          <p:cNvSpPr/>
          <p:nvPr/>
        </p:nvSpPr>
        <p:spPr>
          <a:xfrm>
            <a:off x="274320" y="3703320"/>
            <a:ext cx="1920240" cy="777240"/>
          </a:xfrm>
          <a:prstGeom prst="rect">
            <a:avLst/>
          </a:prstGeom>
          <a:solidFill>
            <a:srgbClr val="D5E8D4"/>
          </a:solidFill>
          <a:ln cap="flat" cmpd="sng" w="12700">
            <a:solidFill>
              <a:srgbClr val="BBBBB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9"/>
          <p:cNvSpPr/>
          <p:nvPr/>
        </p:nvSpPr>
        <p:spPr>
          <a:xfrm>
            <a:off x="274320" y="3721608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−64%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9"/>
          <p:cNvSpPr/>
          <p:nvPr/>
        </p:nvSpPr>
        <p:spPr>
          <a:xfrm>
            <a:off x="274320" y="4105656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Time-to-MVP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9"/>
          <p:cNvSpPr/>
          <p:nvPr/>
        </p:nvSpPr>
        <p:spPr>
          <a:xfrm>
            <a:off x="2423160" y="3703320"/>
            <a:ext cx="1920240" cy="777240"/>
          </a:xfrm>
          <a:prstGeom prst="rect">
            <a:avLst/>
          </a:prstGeom>
          <a:solidFill>
            <a:srgbClr val="D5E8D4"/>
          </a:solidFill>
          <a:ln cap="flat" cmpd="sng" w="12700">
            <a:solidFill>
              <a:srgbClr val="BBBBB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9"/>
          <p:cNvSpPr/>
          <p:nvPr/>
        </p:nvSpPr>
        <p:spPr>
          <a:xfrm>
            <a:off x="2423160" y="3721608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+915%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9"/>
          <p:cNvSpPr/>
          <p:nvPr/>
        </p:nvSpPr>
        <p:spPr>
          <a:xfrm>
            <a:off x="2423160" y="4105656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LOC/hr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9"/>
          <p:cNvSpPr/>
          <p:nvPr/>
        </p:nvSpPr>
        <p:spPr>
          <a:xfrm>
            <a:off x="4572000" y="3703320"/>
            <a:ext cx="1920240" cy="777240"/>
          </a:xfrm>
          <a:prstGeom prst="rect">
            <a:avLst/>
          </a:prstGeom>
          <a:solidFill>
            <a:srgbClr val="D5E8D4"/>
          </a:solidFill>
          <a:ln cap="flat" cmpd="sng" w="12700">
            <a:solidFill>
              <a:srgbClr val="BBBBB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"/>
          <p:cNvSpPr/>
          <p:nvPr/>
        </p:nvSpPr>
        <p:spPr>
          <a:xfrm>
            <a:off x="4572000" y="3721608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−88%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9"/>
          <p:cNvSpPr/>
          <p:nvPr/>
        </p:nvSpPr>
        <p:spPr>
          <a:xfrm>
            <a:off x="4572000" y="4105656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Bug Density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9"/>
          <p:cNvSpPr/>
          <p:nvPr/>
        </p:nvSpPr>
        <p:spPr>
          <a:xfrm>
            <a:off x="6720840" y="3703320"/>
            <a:ext cx="1920240" cy="777240"/>
          </a:xfrm>
          <a:prstGeom prst="rect">
            <a:avLst/>
          </a:prstGeom>
          <a:solidFill>
            <a:srgbClr val="FDEBD0"/>
          </a:solidFill>
          <a:ln cap="flat" cmpd="sng" w="12700">
            <a:solidFill>
              <a:srgbClr val="BBBBB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9"/>
          <p:cNvSpPr/>
          <p:nvPr/>
        </p:nvSpPr>
        <p:spPr>
          <a:xfrm>
            <a:off x="6720840" y="3721608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7E22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+200%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9"/>
          <p:cNvSpPr/>
          <p:nvPr/>
        </p:nvSpPr>
        <p:spPr>
          <a:xfrm>
            <a:off x="6720840" y="4105656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Verif. Overhead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"/>
          <p:cNvSpPr/>
          <p:nvPr/>
        </p:nvSpPr>
        <p:spPr>
          <a:xfrm>
            <a:off x="274320" y="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Agentic Trace &amp; Verification Overhead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0"/>
          <p:cNvSpPr/>
          <p:nvPr/>
        </p:nvSpPr>
        <p:spPr>
          <a:xfrm>
            <a:off x="8046720" y="0"/>
            <a:ext cx="1097280" cy="502920"/>
          </a:xfrm>
          <a:prstGeom prst="rect">
            <a:avLst/>
          </a:prstGeom>
          <a:solidFill>
            <a:srgbClr val="A93226"/>
          </a:solidFill>
          <a:ln cap="flat" cmpd="sng" w="12700">
            <a:solidFill>
              <a:srgbClr val="A932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0"/>
          <p:cNvSpPr/>
          <p:nvPr/>
        </p:nvSpPr>
        <p:spPr>
          <a:xfrm>
            <a:off x="8046720" y="0"/>
            <a:ext cx="10972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CHITKARA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UNIVERSITY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0"/>
          <p:cNvSpPr/>
          <p:nvPr/>
        </p:nvSpPr>
        <p:spPr>
          <a:xfrm>
            <a:off x="274320" y="594360"/>
            <a:ext cx="8595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Key Finding: Overhead is Environment-Driven, Not Code-Quality-Driven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58" name="Google Shape;158;p10"/>
          <p:cNvGraphicFramePr/>
          <p:nvPr/>
        </p:nvGraphicFramePr>
        <p:xfrm>
          <a:off x="274320" y="10058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{38EADD2C-E711-4FA0-A7A0-26A3DB8B1D91}</a:tableStyleId>
              </a:tblPr>
              <a:tblGrid>
                <a:gridCol w="365750"/>
                <a:gridCol w="2560325"/>
                <a:gridCol w="1097275"/>
                <a:gridCol w="1463050"/>
              </a:tblGrid>
              <a:tr h="40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#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Action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Time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Type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392B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1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Upload research + scaffold prompt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T+0 min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Scaffold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2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Clarification — tech stack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T+2 min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Refinement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3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Build project todo list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T+3 min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Feature prompt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4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Next.js + Tailwind + zip output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T+5 min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Refinement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5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Continue (tool call limit hit)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T+8 min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Recovery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6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ENOSPC inotify watcher error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T+12 min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Debug #1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7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inotify watcher limit resolution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T+14 min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Verification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59" name="Google Shape;159;p10"/>
          <p:cNvSpPr/>
          <p:nvPr/>
        </p:nvSpPr>
        <p:spPr>
          <a:xfrm>
            <a:off x="5943600" y="100584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Overhead Attribution: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0"/>
          <p:cNvSpPr/>
          <p:nvPr/>
        </p:nvSpPr>
        <p:spPr>
          <a:xfrm>
            <a:off x="5943600" y="1325880"/>
            <a:ext cx="2926080" cy="2834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~40% overhead in Todo List W3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→ OS-level ENOSPC inotify error</a:t>
            </a:r>
            <a:b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→ NOT from Claude's code quality</a:t>
            </a:r>
            <a:b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~35% overhead in E-Commerce W3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→ Route collision + Supabase API misconfiguration</a:t>
            </a:r>
            <a:b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→ Environment issues, not code failures</a:t>
            </a:r>
            <a:b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Implication: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Fix your dev environment first — not AI prompts — to reduce verification overhead.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1"/>
          <p:cNvSpPr/>
          <p:nvPr/>
        </p:nvSpPr>
        <p:spPr>
          <a:xfrm>
            <a:off x="274320" y="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Hybrid Orchestration Framework (HOF)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1"/>
          <p:cNvSpPr/>
          <p:nvPr/>
        </p:nvSpPr>
        <p:spPr>
          <a:xfrm>
            <a:off x="8046720" y="0"/>
            <a:ext cx="1097280" cy="502920"/>
          </a:xfrm>
          <a:prstGeom prst="rect">
            <a:avLst/>
          </a:prstGeom>
          <a:solidFill>
            <a:srgbClr val="A93226"/>
          </a:solidFill>
          <a:ln cap="flat" cmpd="sng" w="12700">
            <a:solidFill>
              <a:srgbClr val="A932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1"/>
          <p:cNvSpPr/>
          <p:nvPr/>
        </p:nvSpPr>
        <p:spPr>
          <a:xfrm>
            <a:off x="8046720" y="0"/>
            <a:ext cx="10972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CHITKARA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UNIVERSITY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1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1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1"/>
          <p:cNvSpPr/>
          <p:nvPr/>
        </p:nvSpPr>
        <p:spPr>
          <a:xfrm>
            <a:off x="274320" y="594360"/>
            <a:ext cx="85953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New developer roles emerging in agentic workflows: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1"/>
          <p:cNvSpPr/>
          <p:nvPr/>
        </p:nvSpPr>
        <p:spPr>
          <a:xfrm>
            <a:off x="274320" y="1005840"/>
            <a:ext cx="8595360" cy="1097280"/>
          </a:xfrm>
          <a:prstGeom prst="rect">
            <a:avLst/>
          </a:prstGeom>
          <a:solidFill>
            <a:srgbClr val="FDEDEC"/>
          </a:solidFill>
          <a:ln cap="flat" cmpd="sng" w="127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1"/>
          <p:cNvSpPr/>
          <p:nvPr/>
        </p:nvSpPr>
        <p:spPr>
          <a:xfrm>
            <a:off x="274320" y="1005840"/>
            <a:ext cx="73152" cy="109728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"/>
          <p:cNvSpPr/>
          <p:nvPr/>
        </p:nvSpPr>
        <p:spPr>
          <a:xfrm>
            <a:off x="384048" y="1005840"/>
            <a:ext cx="914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Role 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1"/>
          <p:cNvSpPr/>
          <p:nvPr/>
        </p:nvSpPr>
        <p:spPr>
          <a:xfrm>
            <a:off x="384048" y="1005840"/>
            <a:ext cx="4572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Prompt Architect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1"/>
          <p:cNvSpPr/>
          <p:nvPr/>
        </p:nvSpPr>
        <p:spPr>
          <a:xfrm>
            <a:off x="384048" y="1408176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Designs and maintains the Standardized Prompting Protocol (SPP). Precise, structured prompts yield integration-ready code on first generation. Vague prompts increase recovery rounds and cost.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1"/>
          <p:cNvSpPr/>
          <p:nvPr/>
        </p:nvSpPr>
        <p:spPr>
          <a:xfrm>
            <a:off x="274320" y="2240280"/>
            <a:ext cx="8595360" cy="1097280"/>
          </a:xfrm>
          <a:prstGeom prst="rect">
            <a:avLst/>
          </a:prstGeom>
          <a:solidFill>
            <a:srgbClr val="EBF5FB"/>
          </a:solidFill>
          <a:ln cap="flat" cmpd="sng" w="127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11"/>
          <p:cNvSpPr/>
          <p:nvPr/>
        </p:nvSpPr>
        <p:spPr>
          <a:xfrm>
            <a:off x="274320" y="2240280"/>
            <a:ext cx="73152" cy="109728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1"/>
          <p:cNvSpPr/>
          <p:nvPr/>
        </p:nvSpPr>
        <p:spPr>
          <a:xfrm>
            <a:off x="384048" y="2240280"/>
            <a:ext cx="914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Role 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1"/>
          <p:cNvSpPr/>
          <p:nvPr/>
        </p:nvSpPr>
        <p:spPr>
          <a:xfrm>
            <a:off x="384048" y="2240280"/>
            <a:ext cx="4572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Agentic Trace Auditor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1"/>
          <p:cNvSpPr/>
          <p:nvPr/>
        </p:nvSpPr>
        <p:spPr>
          <a:xfrm>
            <a:off x="384048" y="2642616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Reads CLI and trace logs to verify correctness and identify what caused overhead. Structured logs distinguish environment failures from code-level failures — turning opinions into evidence.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1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EAFAF1"/>
          </a:solidFill>
          <a:ln cap="flat" cmpd="sng" w="127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1"/>
          <p:cNvSpPr/>
          <p:nvPr/>
        </p:nvSpPr>
        <p:spPr>
          <a:xfrm>
            <a:off x="274320" y="3474720"/>
            <a:ext cx="73152" cy="109728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1"/>
          <p:cNvSpPr/>
          <p:nvPr/>
        </p:nvSpPr>
        <p:spPr>
          <a:xfrm>
            <a:off x="384048" y="3474720"/>
            <a:ext cx="914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Role 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1"/>
          <p:cNvSpPr/>
          <p:nvPr/>
        </p:nvSpPr>
        <p:spPr>
          <a:xfrm>
            <a:off x="384048" y="3474720"/>
            <a:ext cx="4572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System Orchestrator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1"/>
          <p:cNvSpPr/>
          <p:nvPr/>
        </p:nvSpPr>
        <p:spPr>
          <a:xfrm>
            <a:off x="384048" y="3877056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Ensures separately generated components fit together. Upfront architectural choices (Next.js, Tailwind, output format) shape everything Claude produces downstream.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2"/>
          <p:cNvSpPr/>
          <p:nvPr/>
        </p:nvSpPr>
        <p:spPr>
          <a:xfrm>
            <a:off x="274320" y="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 &amp; Future Work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2"/>
          <p:cNvSpPr/>
          <p:nvPr/>
        </p:nvSpPr>
        <p:spPr>
          <a:xfrm>
            <a:off x="8046720" y="0"/>
            <a:ext cx="1097280" cy="502920"/>
          </a:xfrm>
          <a:prstGeom prst="rect">
            <a:avLst/>
          </a:prstGeom>
          <a:solidFill>
            <a:srgbClr val="A93226"/>
          </a:solidFill>
          <a:ln cap="flat" cmpd="sng" w="12700">
            <a:solidFill>
              <a:srgbClr val="A932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2"/>
          <p:cNvSpPr/>
          <p:nvPr/>
        </p:nvSpPr>
        <p:spPr>
          <a:xfrm>
            <a:off x="8046720" y="0"/>
            <a:ext cx="10972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CHITKARA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UNIVERSITY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2"/>
          <p:cNvSpPr/>
          <p:nvPr/>
        </p:nvSpPr>
        <p:spPr>
          <a:xfrm>
            <a:off x="274320" y="621792"/>
            <a:ext cx="4114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Key Contributions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2"/>
          <p:cNvSpPr/>
          <p:nvPr/>
        </p:nvSpPr>
        <p:spPr>
          <a:xfrm>
            <a:off x="274320" y="969264"/>
            <a:ext cx="4114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First controlled comparison of manual, AI-assisted &amp; agentic workflows with objective trace evidence</a:t>
            </a:r>
            <a:b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1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2. </a:t>
            </a: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W3 reduces time-to-MVP by 64% and bug density by 88% vs manual baseline</a:t>
            </a:r>
            <a:b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1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3. </a:t>
            </a: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Verification overhead is environment-driven, not code-quality-driven</a:t>
            </a:r>
            <a:b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1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4. </a:t>
            </a: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Hybrid Orchestration Framework (HOF) defines 3 structured developer roles for agentic settings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2"/>
          <p:cNvSpPr/>
          <p:nvPr/>
        </p:nvSpPr>
        <p:spPr>
          <a:xfrm>
            <a:off x="4754880" y="621792"/>
            <a:ext cx="4114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Future Work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2"/>
          <p:cNvSpPr/>
          <p:nvPr/>
        </p:nvSpPr>
        <p:spPr>
          <a:xfrm>
            <a:off x="4754880" y="969264"/>
            <a:ext cx="41148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Complete all W1/W2 runs &amp; E-Commerce W3 session</a:t>
            </a:r>
            <a:b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1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Test on properly configured Linux to isolate OS overhead</a:t>
            </a:r>
            <a:b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1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Automated agentic trace analysis tooling</a:t>
            </a:r>
            <a:b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1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HOF multi-developer team evaluation</a:t>
            </a:r>
            <a:b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1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Longitudinal maintenance study (6–12 months)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2"/>
          <p:cNvSpPr/>
          <p:nvPr/>
        </p:nvSpPr>
        <p:spPr>
          <a:xfrm>
            <a:off x="274320" y="3429000"/>
            <a:ext cx="8595360" cy="914400"/>
          </a:xfrm>
          <a:prstGeom prst="rect">
            <a:avLst/>
          </a:prstGeom>
          <a:solidFill>
            <a:srgbClr val="FDEDEC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2"/>
          <p:cNvSpPr/>
          <p:nvPr/>
        </p:nvSpPr>
        <p:spPr>
          <a:xfrm>
            <a:off x="457200" y="34747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Bottom Line: </a:t>
            </a: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Expect large scaffolding gains with agentic AI, followed by an unavoidable verification phase. Code quality is high — environment setup is the bottleneck.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2"/>
          <p:cNvSpPr/>
          <p:nvPr/>
        </p:nvSpPr>
        <p:spPr>
          <a:xfrm>
            <a:off x="0" y="4407408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